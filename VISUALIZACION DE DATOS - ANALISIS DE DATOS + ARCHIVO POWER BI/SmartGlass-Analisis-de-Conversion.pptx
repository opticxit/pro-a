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</p:embeddedFont>
    <p:embeddedFont>
      <p:font typeface="Roboto Medium" panose="02000000000000000000" pitchFamily="2" charset="0"/>
      <p:regular r:id="rId18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75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1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056" y="1343068"/>
            <a:ext cx="564594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SmartGlass: Análisis de Conversión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21056" y="2926366"/>
            <a:ext cx="2642866" cy="94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Miguel Martinez</a:t>
            </a:r>
            <a:b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Shelwin Leiva</a:t>
            </a:r>
            <a:b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Javier Berrio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1056" y="231430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Identificación de fricciones y optimización estratégica del flujo de venta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0924" y="97893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</a:rPr>
              <a:t>Pregunta Objetivo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1663002" y="2039066"/>
            <a:ext cx="5699965" cy="130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¿Por qué existe una tasa de abandono considerable en el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carrito de compras de vidrios personalizados, a pesar de que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los usuarios interactúan con el catálogo y agregan productos?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29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55093"/>
            <a:ext cx="36554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Origen y Consolidación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181597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Fuente Excel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634630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un libro de Excel consolidado que centraliza las transacciones de carritos, productos, pedidos y perfiles de usuario.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181597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Proceso ETL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634630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Limpieza en Power Query: Estandarización de moneda, ajuste de formatos de fecha y validación de tipos de datos para llaves primarias.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181597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328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Normalización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634630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Transformación de campos descriptivos (IDs) para asegurar relaciones de integridad 1 a Varios entre tablas.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264244"/>
            <a:ext cx="2494062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Modelo Relacional Estrella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67991" y="547241"/>
            <a:ext cx="1130722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Arquitectura del Modelo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667991" y="753154"/>
            <a:ext cx="1902693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8466" y="75366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1790254" y="84735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Tablas de Hechos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90254" y="1008757"/>
            <a:ext cx="1686744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Centralizadas en </a:t>
            </a:r>
            <a:r>
              <a:rPr lang="en-US" sz="6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Carrito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r>
              <a:rPr lang="en-US" sz="6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Pedido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el cálculo de métricas transaccionales.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620616" y="753666"/>
            <a:ext cx="1902693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9" name="Shape 7"/>
          <p:cNvSpPr/>
          <p:nvPr/>
        </p:nvSpPr>
        <p:spPr>
          <a:xfrm>
            <a:off x="3611091" y="75366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10" name="Text 8"/>
          <p:cNvSpPr/>
          <p:nvPr/>
        </p:nvSpPr>
        <p:spPr>
          <a:xfrm>
            <a:off x="3742879" y="84735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Tablas de Dimensión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42879" y="1008757"/>
            <a:ext cx="1686744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Conectamos </a:t>
            </a:r>
            <a:r>
              <a:rPr lang="en-US" sz="6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6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Producto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r>
              <a:rPr lang="en-US" sz="6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Calendario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habilitar filtros dinámicos.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573241" y="753666"/>
            <a:ext cx="1902768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63716" y="75366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95504" y="84735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Tablas Separadas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95504" y="1008757"/>
            <a:ext cx="1686818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mantienen aisladas aquellas hojas del Excel con datos redundantes o auxiliares para mantener el rendimiento del modelo.</a:t>
            </a:r>
            <a:endParaRPr lang="en-US" sz="6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954D7EF8-C21A-4B58-81B3-B6857F89F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791" y="1585763"/>
            <a:ext cx="7156095" cy="29692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081" y="96031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Resumen Ejecutivo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54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Hallazgos Clave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7150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1,000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909637" y="30163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Interacciones Totales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32288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Volumen total de interacciones iniciales detectadas en el sistema.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2433" y="237150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41.20%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3685952" y="30163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Tasa de Conversión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72433" y="332288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412 ventas concretadas, indicando un flujo funcional pero optimizable.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48747" y="2371502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58.80%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462266" y="30163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Gap de Mejora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8747" y="332288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Abandono global que requiere intervención táctica urgente.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264244"/>
            <a:ext cx="2236738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Abandono por Producto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67991" y="547241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Insights del Catálogo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667991" y="753666"/>
            <a:ext cx="1902693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8466" y="75366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1790254" y="84735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Treemap de Pérdida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90254" y="1008757"/>
            <a:ext cx="1686744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Identificamos que el </a:t>
            </a:r>
            <a:r>
              <a:rPr lang="en-US" sz="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Vidrio Templado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el producto más "abandonado" en volumen absoluto.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620616" y="753666"/>
            <a:ext cx="1902693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091" y="75366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10" name="Text 8"/>
          <p:cNvSpPr/>
          <p:nvPr/>
        </p:nvSpPr>
        <p:spPr>
          <a:xfrm>
            <a:off x="3742879" y="847353"/>
            <a:ext cx="115193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 de Dimensiones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42879" y="1008757"/>
            <a:ext cx="1686744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gráfico de dispersión revela que dimensiones no estándar causan dudas en el checkout.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573241" y="753666"/>
            <a:ext cx="1902768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63716" y="75366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95504" y="84735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Efecto Precio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95504" y="1008757"/>
            <a:ext cx="1686818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Segmentación por rango de precio alto muestra mayor sensibilidad en el cierre de la venta.</a:t>
            </a:r>
            <a:endParaRPr lang="en-US" sz="6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0054599-B07A-40B6-888F-EF78DB0F4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03" y="1424360"/>
            <a:ext cx="7117307" cy="3611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243185"/>
            <a:ext cx="2104355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Perfil del Usuario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67991" y="526182"/>
            <a:ext cx="1419597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Comportamiento Segmentado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1667991" y="4229546"/>
            <a:ext cx="1902693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58466" y="422954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7" name="Text 4"/>
          <p:cNvSpPr/>
          <p:nvPr/>
        </p:nvSpPr>
        <p:spPr>
          <a:xfrm>
            <a:off x="1790254" y="4323234"/>
            <a:ext cx="106360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Trazabilidad de Sesión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790254" y="4484638"/>
            <a:ext cx="1686744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</a:t>
            </a:r>
            <a:r>
              <a:rPr lang="en-US" sz="6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71.77%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los abandonos provienen de usuarios con rol de "</a:t>
            </a:r>
            <a:r>
              <a:rPr lang="en-US" sz="6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 registrado.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3620616" y="4229546"/>
            <a:ext cx="1902693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1091" y="422954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11" name="Text 8"/>
          <p:cNvSpPr/>
          <p:nvPr/>
        </p:nvSpPr>
        <p:spPr>
          <a:xfrm>
            <a:off x="3742879" y="4323234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Barrera Logística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742879" y="4484638"/>
            <a:ext cx="1686744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mayor volumen de abandono se concentra en la categoría de tamaño "</a:t>
            </a:r>
            <a:r>
              <a:rPr lang="en-US" sz="6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Superior al Estándar</a:t>
            </a: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".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573241" y="4229546"/>
            <a:ext cx="1902768" cy="670694"/>
          </a:xfrm>
          <a:prstGeom prst="roundRect">
            <a:avLst>
              <a:gd name="adj" fmla="val 6817"/>
            </a:avLst>
          </a:prstGeom>
          <a:solidFill>
            <a:srgbClr val="000018">
              <a:alpha val="95000"/>
            </a:srgbClr>
          </a:solidFill>
          <a:ln w="9525">
            <a:solidFill>
              <a:srgbClr val="313E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63716" y="4229546"/>
            <a:ext cx="38100" cy="670694"/>
          </a:xfrm>
          <a:prstGeom prst="roundRect">
            <a:avLst>
              <a:gd name="adj" fmla="val 92791"/>
            </a:avLst>
          </a:prstGeom>
          <a:solidFill>
            <a:srgbClr val="5A6ED8"/>
          </a:solidFill>
          <a:ln/>
        </p:spPr>
      </p:sp>
      <p:sp>
        <p:nvSpPr>
          <p:cNvPr id="15" name="Text 12"/>
          <p:cNvSpPr/>
          <p:nvPr/>
        </p:nvSpPr>
        <p:spPr>
          <a:xfrm>
            <a:off x="5695504" y="4323234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Conclusión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695504" y="4484638"/>
            <a:ext cx="1686818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cliente abandona por incertidumbre en instalación o envío de piezas grandes, no por falta de interés.</a:t>
            </a:r>
            <a:endParaRPr lang="en-US" sz="6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739907D-0201-4540-98C9-F4EBFB372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14" y="827394"/>
            <a:ext cx="5970896" cy="32324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8500"/>
            <a:ext cx="38403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Estrategia de Mitigación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295004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Remarketing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74803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Campañas automatizadas dirigidas al 71% de clientes identificados para recuperar carritos perdidos.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295004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441525"/>
            <a:ext cx="186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Asistencia en Checkout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74803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 de chat logístico para productos de gran formato (Superior al Estándar).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295004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74803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Optimizar el embudo de ventas para elevar la tasa de conversión actual del 41% al 60% en dos periodos.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422</Words>
  <Application>Microsoft Office PowerPoint</Application>
  <PresentationFormat>Presentación en pantalla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Roboto</vt:lpstr>
      <vt:lpstr>Arial</vt:lpstr>
      <vt:lpstr>Times New Roman</vt:lpstr>
      <vt:lpstr>Roboto Medium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OpTic Xit</cp:lastModifiedBy>
  <cp:revision>8</cp:revision>
  <dcterms:created xsi:type="dcterms:W3CDTF">2026-05-07T18:42:16Z</dcterms:created>
  <dcterms:modified xsi:type="dcterms:W3CDTF">2026-05-12T13:05:59Z</dcterms:modified>
</cp:coreProperties>
</file>